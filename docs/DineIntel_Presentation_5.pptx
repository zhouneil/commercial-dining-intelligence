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519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86200" y="548640"/>
            <a:ext cx="1371600" cy="1371600"/>
          </a:xfrm>
          <a:prstGeom prst="ellipse">
            <a:avLst/>
          </a:prstGeom>
          <a:solidFill>
            <a:srgbClr val="0D948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8686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DineIntel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Dining Intelligence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0" y="3566160"/>
            <a:ext cx="2743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Final Project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underserved groups navigating the food industry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0" cy="16459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73152" cy="1645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4767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&amp; Diners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377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where to eat. Generic search results miss intent — a quick lunch vs. a special occasion need different answers.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691640"/>
            <a:ext cx="3840480" cy="16459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691640"/>
            <a:ext cx="73152" cy="1645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120640" y="18745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94767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120640" y="2377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where or what to open. No accessible, data-driven tools to evaluate if a restaurant concept will succeed.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48640" y="3703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150K+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54864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200400" y="3703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5M+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320040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669280" y="3703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$20B+</a:t>
            </a:r>
            <a:endParaRPr lang="en-US" sz="2800" dirty="0"/>
          </a:p>
        </p:txBody>
      </p:sp>
      <p:sp>
        <p:nvSpPr>
          <p:cNvPr id="23" name="Text 19"/>
          <p:cNvSpPr/>
          <p:nvPr/>
        </p:nvSpPr>
        <p:spPr>
          <a:xfrm>
            <a:off x="566928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Intelligence Market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 Open Dataset  •  Real businesses, real reviews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0058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7899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 / Tourist Side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0" y="10058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07899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1005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/ Owner Side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1691640"/>
            <a:ext cx="3840480" cy="47548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48640" y="1691640"/>
            <a:ext cx="54864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77240" y="16916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Query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194560" y="21305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▼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350008"/>
            <a:ext cx="3840480" cy="47548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48640" y="2350008"/>
            <a:ext cx="54864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77240" y="235000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Retrieval (50K features)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194560" y="2788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▼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008376"/>
            <a:ext cx="3840480" cy="47548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48640" y="3008376"/>
            <a:ext cx="54864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300837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 Re-Ranker (intent-aware)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194560" y="3447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▼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48640" y="3666744"/>
            <a:ext cx="3840480" cy="475488"/>
          </a:xfrm>
          <a:prstGeom prst="rect">
            <a:avLst/>
          </a:prstGeom>
          <a:solidFill>
            <a:srgbClr val="CCFBF1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48640" y="3666744"/>
            <a:ext cx="54864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777240" y="366674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Frontend  /search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754880" y="1691640"/>
            <a:ext cx="3840480" cy="47548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4754880" y="1691640"/>
            <a:ext cx="54864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983480" y="16916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+ Category Input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400800" y="21305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</a:rPr>
              <a:t>▼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754880" y="2350008"/>
            <a:ext cx="3840480" cy="47548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4754880" y="2350008"/>
            <a:ext cx="54864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983480" y="235000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Features (BallTree) + Semantic Features (KNN)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400800" y="2788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</a:rPr>
              <a:t>▼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754880" y="3008376"/>
            <a:ext cx="3840480" cy="47548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4754880" y="3008376"/>
            <a:ext cx="54864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983480" y="300837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Models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6400800" y="3447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</a:rPr>
              <a:t>▼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754880" y="3666744"/>
            <a:ext cx="3840480" cy="475488"/>
          </a:xfrm>
          <a:prstGeom prst="rect">
            <a:avLst/>
          </a:prstGeom>
          <a:solidFill>
            <a:srgbClr val="CCFBF1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754880" y="3666744"/>
            <a:ext cx="54864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983480" y="366674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Frontend  /merchant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 FastAPI Backend  •  Yelp CSV → Cleaning → Spatial Features → Model Artifacts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Diner Experience</a:t>
            </a:r>
            <a:endParaRPr lang="en-US" sz="2800" dirty="0"/>
          </a:p>
        </p:txBody>
      </p:sp>
      <p:pic>
        <p:nvPicPr>
          <p:cNvPr id="4" name="Image 0" descr="/home/claude/dine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4160520" cy="1764792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27889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state &amp; city, set search preferences</a:t>
            </a:r>
            <a:endParaRPr lang="en-US" sz="1100" dirty="0"/>
          </a:p>
        </p:txBody>
      </p:sp>
      <p:pic>
        <p:nvPicPr>
          <p:cNvPr id="6" name="Image 1" descr="/home/claude/dine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960120"/>
            <a:ext cx="4160520" cy="2313432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709160" y="33375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Intent-aware ranked results with Like/Pass feedback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("affordable sushi")  •  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filters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 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ranking weights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(semantic, rating, price, distance, popularity)  •  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 bandit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intent and adapts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 Experience</a:t>
            </a:r>
            <a:endParaRPr lang="en-US" sz="2800" dirty="0"/>
          </a:p>
        </p:txBody>
      </p:sp>
      <p:pic>
        <p:nvPicPr>
          <p:cNvPr id="4" name="Image 0" descr="/home/claude/merchant1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4160520" cy="278892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37947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Choose city, enter restaurant type, click map</a:t>
            </a:r>
            <a:endParaRPr lang="en-US" sz="1100" dirty="0"/>
          </a:p>
        </p:txBody>
      </p:sp>
      <p:pic>
        <p:nvPicPr>
          <p:cNvPr id="6" name="Image 1" descr="/home/claude/merchant2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960120"/>
            <a:ext cx="4160520" cy="288036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709160" y="38862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Instant prediction: survival probability + star rating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4343400"/>
            <a:ext cx="8046720" cy="59436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31520" y="43708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hull boundary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map  •  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spatial feature computation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 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preview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transparency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Deep Dive — Diner Side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5156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005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Retrieval (Built from Scratch)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05840" y="14173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review text (up to 20 reviews per restaurant)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TF-IDF features across ~5K businesses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cosine similarity + Bayesian-style star prior (trust-scaled by review count)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2468880"/>
            <a:ext cx="8046720" cy="0"/>
          </a:xfrm>
          <a:prstGeom prst="line">
            <a:avLst/>
          </a:prstGeom>
          <a:noFill/>
          <a:ln w="190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65176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606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Bucketed Contextual UCB Bandit (Reinforcement Learning)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1005840" y="3154680"/>
            <a:ext cx="1554480" cy="38404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1005840" y="3154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2834640" y="3154680"/>
            <a:ext cx="1554480" cy="384048"/>
          </a:xfrm>
          <a:prstGeom prst="rect">
            <a:avLst/>
          </a:prstGeom>
          <a:solidFill>
            <a:srgbClr val="14B8A6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2834640" y="3154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3154680"/>
            <a:ext cx="1554480" cy="384048"/>
          </a:xfrm>
          <a:prstGeom prst="rect">
            <a:avLst/>
          </a:prstGeom>
          <a:solidFill>
            <a:srgbClr val="5EEAD4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663440" y="3154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583680" y="3154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Arms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2926080" y="3584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1005840" y="3931920"/>
            <a:ext cx="1554480" cy="384048"/>
          </a:xfrm>
          <a:prstGeom prst="rect">
            <a:avLst/>
          </a:prstGeom>
          <a:solidFill>
            <a:srgbClr val="F1F5F9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1005840" y="39319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Meal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834640" y="3931920"/>
            <a:ext cx="1554480" cy="384048"/>
          </a:xfrm>
          <a:prstGeom prst="rect">
            <a:avLst/>
          </a:prstGeom>
          <a:solidFill>
            <a:srgbClr val="F1F5F9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2834640" y="39319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Romantic / Special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63440" y="3931920"/>
            <a:ext cx="1554480" cy="384048"/>
          </a:xfrm>
          <a:prstGeom prst="rect">
            <a:avLst/>
          </a:prstGeom>
          <a:solidFill>
            <a:srgbClr val="F1F5F9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663440" y="39319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583680" y="3931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Intents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005840" y="4480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 balances explore/exploit per intent  •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= reward signal  •  Regex-based query bucketing feeds bandit context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Deep Dive — Merchant Side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PIPELINE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raw Yelp data — parse hours, flatten attributes, one-hot categories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1737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BallTree spatial index — query neighbors at 0.5km, 1km, 3km radii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2057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competition density, survival rates, avg ratings per radius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2377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cosine similarity — how similar restaurants perform globally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2697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forward ablation → select features that improve AUC/MAE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3017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two HistGradientBoosting models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46320" y="1005840"/>
            <a:ext cx="0" cy="2468880"/>
          </a:xfrm>
          <a:prstGeom prst="line">
            <a:avLst/>
          </a:prstGeom>
          <a:noFill/>
          <a:ln w="254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5780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clicks map location + inputs category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257800" y="17647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spatial index on the fly for new location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257800" y="21122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full feature vector (865 features)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257800" y="24597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through both trained models instantly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212080" y="2880360"/>
            <a:ext cx="1691640" cy="5029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212080" y="2880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Prob.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086600" y="2880360"/>
            <a:ext cx="1691640" cy="50292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086600" y="2880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3703320"/>
            <a:ext cx="8046720" cy="11887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— Feature Family Impact on Survival Classifier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041654" y="4673498"/>
            <a:ext cx="812292" cy="8138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04494" y="4472330"/>
            <a:ext cx="1086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0.7189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904494" y="4773168"/>
            <a:ext cx="1086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291334" y="4355287"/>
            <a:ext cx="812292" cy="399593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154174" y="4154119"/>
            <a:ext cx="1086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0.7537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154174" y="4773168"/>
            <a:ext cx="1086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+Dist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541014" y="4340657"/>
            <a:ext cx="812292" cy="414223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403854" y="4139489"/>
            <a:ext cx="1086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0.7553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403854" y="4773168"/>
            <a:ext cx="1086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+Counts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790694" y="4323283"/>
            <a:ext cx="812292" cy="431597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653534" y="4122115"/>
            <a:ext cx="1086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0.7572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653534" y="4773168"/>
            <a:ext cx="1086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+Gap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6040374" y="4315054"/>
            <a:ext cx="812292" cy="43982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903214" y="4113886"/>
            <a:ext cx="1086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0.7581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903214" y="4773168"/>
            <a:ext cx="1086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+Divers.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290054" y="4224528"/>
            <a:ext cx="812292" cy="5303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152894" y="4023360"/>
            <a:ext cx="1086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0.7680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52894" y="4773168"/>
            <a:ext cx="1086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+Semantic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&amp;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Models (Test Set)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11430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864" cy="1143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Classifier (is_open)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6642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0.768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57400" y="16642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0.741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9748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16642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0.756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011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0.830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97480" y="2011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4206240" cy="11430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2633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Regressor (stars)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2971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0.523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32278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2971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0.664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11680" y="32278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2971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17.6%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37560" y="32278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3474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within ~0.5 stars  •  Pred mean/std matches true distribution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 Bandit — Offline Replay (1,687 matches)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846320" y="1325880"/>
            <a:ext cx="4023360" cy="10515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132588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74920" y="1353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Comparison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1627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92240" y="1645920"/>
            <a:ext cx="1091720" cy="15544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57112" y="16276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0.3444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74920" y="1856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 Agent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92240" y="1874520"/>
            <a:ext cx="2098804" cy="1554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664196" y="1856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0.6621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74920" y="2084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Optimal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2103120"/>
            <a:ext cx="2208800" cy="155448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774192" y="20848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0.6968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2514600"/>
            <a:ext cx="4023360" cy="16916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46320" y="2514600"/>
            <a:ext cx="54864" cy="1691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74920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Policy — Each intent found its best arm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20640" y="28346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26480" y="28346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Arm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32320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772400" y="2834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120640" y="3072384"/>
            <a:ext cx="3383280" cy="0"/>
          </a:xfrm>
          <a:prstGeom prst="line">
            <a:avLst/>
          </a:prstGeom>
          <a:noFill/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120640" y="3127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Meal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26480" y="3145536"/>
            <a:ext cx="960120" cy="21945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126480" y="314553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132320" y="3127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538 / 550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772400" y="3127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0.939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20640" y="3447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Romantic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26480" y="3465576"/>
            <a:ext cx="960120" cy="21945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126480" y="346557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32320" y="34472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493 / 551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772400" y="34472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0.692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120640" y="3767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126480" y="3785616"/>
            <a:ext cx="960120" cy="219456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126480" y="378561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132320" y="3767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473 / 586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772400" y="37673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0.548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07492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assertions passed: each intent bucket learned the expected best arm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40080" y="44622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 agent reaches 95% of optimal CTR</a:t>
            </a: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(0.66 vs 0.70)  •  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 catches 92% of closures</a:t>
            </a: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within ~0.5 stars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 &amp; Limitations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Well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840480" cy="32004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4864" cy="32004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 generalizes well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1920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train vs. test metrics (AUC 0.768 vs 0.768, F1 0.833 vs 0.830) — no overfitting despite 865 features. The model reliably catches 92% of restaurant closures.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 bandit reaches 95% of optimal CTR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29718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CTR of 0.66 vs. random baseline of 0.34 — nearly 2x improvement. Each intent bucket converged to its expected best arm with clear Q-value separation.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full-stack app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3931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modes run live with real-time inference — no pre-computed results. From-scratch TF-IDF, custom spatial features, and two distinct ML paradigms (retrieval + supervised prediction) in one deployable app.</a:t>
            </a:r>
            <a:endParaRPr lang="en-US" sz="10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515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2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754880" y="1554480"/>
            <a:ext cx="3840480" cy="32004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754880" y="1554480"/>
            <a:ext cx="54864" cy="32004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98348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geographic coverage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983480" y="1920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Yelp Open Dataset doesn't include major cities like New York, Chicago, or San Francisco. Predictions outside the training hull are extrapolated and less reliable.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98348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model lacks key features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83480" y="2971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of 0.38 reflects that star ratings depend heavily on factors we can't observe from location data alone — service quality, food quality, management, ambiance. Spatial features explain where to open, not how to run it.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98348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side lacks granular data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983480" y="3931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menus, prices per dish, wait times, or real-time availability. The retrieval relies on review text, which can be noisy and doesn't capture what a restaurant currently offers.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86200" y="914400"/>
            <a:ext cx="1371600" cy="1371600"/>
          </a:xfrm>
          <a:prstGeom prst="ellipse">
            <a:avLst/>
          </a:prstGeom>
          <a:solidFill>
            <a:srgbClr val="0D948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887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873</Words>
  <Application>Microsoft Macintosh PowerPoint</Application>
  <PresentationFormat>On-screen Show 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DineIntel — ML-Powered Dining Intelligence</dc:title>
  <dc:subject>PptxGenJS Presentation</dc:subject>
  <dc:creator>ML Final Project Team</dc:creator>
  <cp:lastModifiedBy>Alon Demol</cp:lastModifiedBy>
  <cp:revision>2</cp:revision>
  <dcterms:created xsi:type="dcterms:W3CDTF">2026-05-01T01:30:45Z</dcterms:created>
  <dcterms:modified xsi:type="dcterms:W3CDTF">2026-05-01T14:53:21Z</dcterms:modified>
</cp:coreProperties>
</file>